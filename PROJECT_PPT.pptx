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Neue Machina" charset="1" panose="00000500000000000000"/>
      <p:regular r:id="rId19"/>
    </p:embeddedFont>
    <p:embeddedFont>
      <p:font typeface="TT Interphases" charset="1" panose="020005030200000200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slide6.xml" Type="http://schemas.openxmlformats.org/officeDocument/2006/relationships/slide"/><Relationship Id="rId11" Target="slide3.xml" Type="http://schemas.openxmlformats.org/officeDocument/2006/relationships/slid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slide5.xml" Type="http://schemas.openxmlformats.org/officeDocument/2006/relationships/slide"/><Relationship Id="rId7" Target="slide7.xml" Type="http://schemas.openxmlformats.org/officeDocument/2006/relationships/slide"/><Relationship Id="rId8" Target="slide8.xml" Type="http://schemas.openxmlformats.org/officeDocument/2006/relationships/slide"/><Relationship Id="rId9" Target="slide4.xml" Type="http://schemas.openxmlformats.org/officeDocument/2006/relationships/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5594" y="-70647"/>
            <a:ext cx="18494060" cy="10402909"/>
          </a:xfrm>
          <a:custGeom>
            <a:avLst/>
            <a:gdLst/>
            <a:ahLst/>
            <a:cxnLst/>
            <a:rect r="r" b="b" t="t" l="l"/>
            <a:pathLst>
              <a:path h="10402909" w="18494060">
                <a:moveTo>
                  <a:pt x="0" y="0"/>
                </a:moveTo>
                <a:lnTo>
                  <a:pt x="18494060" y="0"/>
                </a:lnTo>
                <a:lnTo>
                  <a:pt x="18494060" y="10402909"/>
                </a:lnTo>
                <a:lnTo>
                  <a:pt x="0" y="104029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598683"/>
            <a:ext cx="12812808" cy="5214689"/>
            <a:chOff x="0" y="0"/>
            <a:chExt cx="17083744" cy="6952919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200025"/>
              <a:ext cx="17083744" cy="39075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1036"/>
                </a:lnSpc>
              </a:pPr>
              <a:r>
                <a:rPr lang="en-US" sz="11036">
                  <a:solidFill>
                    <a:srgbClr val="FFFFFF"/>
                  </a:solidFill>
                  <a:latin typeface="Neue Machina"/>
                  <a:ea typeface="Neue Machina"/>
                  <a:cs typeface="Neue Machina"/>
                  <a:sym typeface="Neue Machina"/>
                </a:rPr>
                <a:t>SQL Analysis Project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4352594"/>
              <a:ext cx="17083744" cy="2600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839"/>
                </a:lnSpc>
              </a:pPr>
              <a:r>
                <a:rPr lang="en-US" sz="3199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A SQL-based analysis of a Pizza Sales dataset to identify revenue trends, top-selling pizzas, and ordering patterns. Includes time-based analysis, category insights, and advanced techniques like moving averages and basket analysis to support data-driven decisions.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8920183"/>
            <a:ext cx="338117" cy="338117"/>
          </a:xfrm>
          <a:custGeom>
            <a:avLst/>
            <a:gdLst/>
            <a:ahLst/>
            <a:cxnLst/>
            <a:rect r="r" b="b" t="t" l="l"/>
            <a:pathLst>
              <a:path h="338117" w="338117">
                <a:moveTo>
                  <a:pt x="0" y="0"/>
                </a:moveTo>
                <a:lnTo>
                  <a:pt x="338117" y="0"/>
                </a:lnTo>
                <a:lnTo>
                  <a:pt x="338117" y="338117"/>
                </a:lnTo>
                <a:lnTo>
                  <a:pt x="0" y="3381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135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224409" y="1119907"/>
            <a:ext cx="400297" cy="400297"/>
          </a:xfrm>
          <a:custGeom>
            <a:avLst/>
            <a:gdLst/>
            <a:ahLst/>
            <a:cxnLst/>
            <a:rect r="r" b="b" t="t" l="l"/>
            <a:pathLst>
              <a:path h="400297" w="400297">
                <a:moveTo>
                  <a:pt x="0" y="0"/>
                </a:moveTo>
                <a:lnTo>
                  <a:pt x="400297" y="0"/>
                </a:lnTo>
                <a:lnTo>
                  <a:pt x="400297" y="400296"/>
                </a:lnTo>
                <a:lnTo>
                  <a:pt x="0" y="4002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224409" y="2669330"/>
            <a:ext cx="400297" cy="400297"/>
          </a:xfrm>
          <a:custGeom>
            <a:avLst/>
            <a:gdLst/>
            <a:ahLst/>
            <a:cxnLst/>
            <a:rect r="r" b="b" t="t" l="l"/>
            <a:pathLst>
              <a:path h="400297" w="400297">
                <a:moveTo>
                  <a:pt x="0" y="0"/>
                </a:moveTo>
                <a:lnTo>
                  <a:pt x="400297" y="0"/>
                </a:lnTo>
                <a:lnTo>
                  <a:pt x="400297" y="400296"/>
                </a:lnTo>
                <a:lnTo>
                  <a:pt x="0" y="4002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224409" y="4218753"/>
            <a:ext cx="400297" cy="400297"/>
          </a:xfrm>
          <a:custGeom>
            <a:avLst/>
            <a:gdLst/>
            <a:ahLst/>
            <a:cxnLst/>
            <a:rect r="r" b="b" t="t" l="l"/>
            <a:pathLst>
              <a:path h="400297" w="400297">
                <a:moveTo>
                  <a:pt x="0" y="0"/>
                </a:moveTo>
                <a:lnTo>
                  <a:pt x="400297" y="0"/>
                </a:lnTo>
                <a:lnTo>
                  <a:pt x="400297" y="400296"/>
                </a:lnTo>
                <a:lnTo>
                  <a:pt x="0" y="4002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224409" y="1894618"/>
            <a:ext cx="400297" cy="400297"/>
          </a:xfrm>
          <a:custGeom>
            <a:avLst/>
            <a:gdLst/>
            <a:ahLst/>
            <a:cxnLst/>
            <a:rect r="r" b="b" t="t" l="l"/>
            <a:pathLst>
              <a:path h="400297" w="400297">
                <a:moveTo>
                  <a:pt x="0" y="0"/>
                </a:moveTo>
                <a:lnTo>
                  <a:pt x="400297" y="0"/>
                </a:lnTo>
                <a:lnTo>
                  <a:pt x="400297" y="400297"/>
                </a:lnTo>
                <a:lnTo>
                  <a:pt x="0" y="4002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224409" y="3444041"/>
            <a:ext cx="400297" cy="400297"/>
          </a:xfrm>
          <a:custGeom>
            <a:avLst/>
            <a:gdLst/>
            <a:ahLst/>
            <a:cxnLst/>
            <a:rect r="r" b="b" t="t" l="l"/>
            <a:pathLst>
              <a:path h="400297" w="400297">
                <a:moveTo>
                  <a:pt x="0" y="0"/>
                </a:moveTo>
                <a:lnTo>
                  <a:pt x="400297" y="0"/>
                </a:lnTo>
                <a:lnTo>
                  <a:pt x="400297" y="400297"/>
                </a:lnTo>
                <a:lnTo>
                  <a:pt x="0" y="4002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224409" y="4993464"/>
            <a:ext cx="400297" cy="400297"/>
          </a:xfrm>
          <a:custGeom>
            <a:avLst/>
            <a:gdLst/>
            <a:ahLst/>
            <a:cxnLst/>
            <a:rect r="r" b="b" t="t" l="l"/>
            <a:pathLst>
              <a:path h="400297" w="400297">
                <a:moveTo>
                  <a:pt x="0" y="0"/>
                </a:moveTo>
                <a:lnTo>
                  <a:pt x="400297" y="0"/>
                </a:lnTo>
                <a:lnTo>
                  <a:pt x="400297" y="400297"/>
                </a:lnTo>
                <a:lnTo>
                  <a:pt x="0" y="4002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3800475"/>
            <a:ext cx="6903399" cy="134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559"/>
              </a:lnSpc>
              <a:spcBef>
                <a:spcPct val="0"/>
              </a:spcBef>
            </a:pPr>
            <a:r>
              <a:rPr lang="en-US" sz="8799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Agenda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882390" y="2600088"/>
            <a:ext cx="6273212" cy="477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5"/>
              </a:lnSpc>
            </a:pPr>
            <a:r>
              <a:rPr lang="en-US" sz="2775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  <a:hlinkClick r:id="rId6" action="ppaction://hlinksldjump"/>
              </a:rPr>
              <a:t>Tools &amp; Skills Used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882390" y="4147502"/>
            <a:ext cx="6273212" cy="477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5"/>
              </a:lnSpc>
            </a:pPr>
            <a:r>
              <a:rPr lang="en-US" sz="2775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  <a:hlinkClick r:id="rId7" action="ppaction://hlinksldjump"/>
              </a:rPr>
              <a:t>Key Insights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882390" y="4921209"/>
            <a:ext cx="6273212" cy="477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5"/>
              </a:lnSpc>
            </a:pPr>
            <a:r>
              <a:rPr lang="en-US" sz="2775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  <a:hlinkClick r:id="rId8" action="ppaction://hlinksldjump"/>
              </a:rPr>
              <a:t>Future Enhancements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882390" y="1826381"/>
            <a:ext cx="6273212" cy="477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5"/>
              </a:lnSpc>
            </a:pPr>
            <a:r>
              <a:rPr lang="en-US" sz="2775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  <a:hlinkClick r:id="rId9" action="ppaction://hlinksldjump"/>
              </a:rPr>
              <a:t>Dataset Description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882390" y="3373795"/>
            <a:ext cx="6273212" cy="477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5"/>
              </a:lnSpc>
            </a:pPr>
            <a:r>
              <a:rPr lang="en-US" sz="2775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  <a:hlinkClick r:id="rId10" action="ppaction://hlinksldjump"/>
              </a:rPr>
              <a:t>Business Questions &amp; SQL Queries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882390" y="1052674"/>
            <a:ext cx="6842882" cy="477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5"/>
              </a:lnSpc>
            </a:pPr>
            <a:r>
              <a:rPr lang="en-US" sz="2775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  <a:hlinkClick r:id="rId11" action="ppaction://hlinksldjump"/>
              </a:rPr>
              <a:t>Project Overview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3135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0678" y="395998"/>
            <a:ext cx="15708622" cy="8728014"/>
            <a:chOff x="0" y="0"/>
            <a:chExt cx="20944829" cy="11637352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20944829" cy="2206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2975"/>
                </a:lnSpc>
              </a:pPr>
              <a:r>
                <a:rPr lang="en-US" sz="10812">
                  <a:solidFill>
                    <a:srgbClr val="FFFFFF"/>
                  </a:solidFill>
                  <a:latin typeface="Neue Machina"/>
                  <a:ea typeface="Neue Machina"/>
                  <a:cs typeface="Neue Machina"/>
                  <a:sym typeface="Neue Machina"/>
                </a:rPr>
                <a:t>Project Overview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237220"/>
              <a:ext cx="19916079" cy="84001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855961" indent="-427981" lvl="1">
                <a:lnSpc>
                  <a:spcPts val="5550"/>
                </a:lnSpc>
                <a:buFont typeface="Arial"/>
                <a:buChar char="•"/>
              </a:pPr>
              <a:r>
                <a:rPr lang="en-US" sz="3964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This project focuses on analyzing a Pizza Sales dataset using SQL to derive insights related to customer ordering behavior, revenue trends, and pr</a:t>
              </a:r>
              <a:r>
                <a:rPr lang="en-US" sz="3964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oduct performance. The analysis includes basic, intermediate, and advanced SQL queries covering order patterns, revenue generation, best-selling pizzas, category distribution, weekly and monthly t</a:t>
              </a:r>
              <a:r>
                <a:rPr lang="en-US" sz="3964">
                  <a:solidFill>
                    <a:srgbClr val="FFFFFF"/>
                  </a:solidFill>
                  <a:latin typeface="TT Interphases"/>
                  <a:ea typeface="TT Interphases"/>
                  <a:cs typeface="TT Interphases"/>
                  <a:sym typeface="TT Interphases"/>
                </a:rPr>
                <a:t>rends, and forecasting using window functions. The objective is to support data-driven decision-making for menu optimization and sales strategy.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135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0" y="-685800"/>
            <a:ext cx="18288000" cy="10972800"/>
          </a:xfrm>
          <a:custGeom>
            <a:avLst/>
            <a:gdLst/>
            <a:ahLst/>
            <a:cxnLst/>
            <a:rect r="r" b="b" t="t" l="l"/>
            <a:pathLst>
              <a:path h="10972800" w="18288000">
                <a:moveTo>
                  <a:pt x="0" y="0"/>
                </a:moveTo>
                <a:lnTo>
                  <a:pt x="18288000" y="0"/>
                </a:lnTo>
                <a:lnTo>
                  <a:pt x="18288000" y="10972800"/>
                </a:lnTo>
                <a:lnTo>
                  <a:pt x="0" y="10972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7483" y="2311924"/>
            <a:ext cx="4778173" cy="3276461"/>
          </a:xfrm>
          <a:custGeom>
            <a:avLst/>
            <a:gdLst/>
            <a:ahLst/>
            <a:cxnLst/>
            <a:rect r="r" b="b" t="t" l="l"/>
            <a:pathLst>
              <a:path h="3276461" w="4778173">
                <a:moveTo>
                  <a:pt x="0" y="0"/>
                </a:moveTo>
                <a:lnTo>
                  <a:pt x="4778172" y="0"/>
                </a:lnTo>
                <a:lnTo>
                  <a:pt x="4778172" y="3276461"/>
                </a:lnTo>
                <a:lnTo>
                  <a:pt x="0" y="32764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339091" y="2311924"/>
            <a:ext cx="4797747" cy="3343884"/>
          </a:xfrm>
          <a:custGeom>
            <a:avLst/>
            <a:gdLst/>
            <a:ahLst/>
            <a:cxnLst/>
            <a:rect r="r" b="b" t="t" l="l"/>
            <a:pathLst>
              <a:path h="3343884" w="4797747">
                <a:moveTo>
                  <a:pt x="0" y="0"/>
                </a:moveTo>
                <a:lnTo>
                  <a:pt x="4797747" y="0"/>
                </a:lnTo>
                <a:lnTo>
                  <a:pt x="4797747" y="3343884"/>
                </a:lnTo>
                <a:lnTo>
                  <a:pt x="0" y="33438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873346" y="6053525"/>
            <a:ext cx="5864619" cy="3490844"/>
          </a:xfrm>
          <a:custGeom>
            <a:avLst/>
            <a:gdLst/>
            <a:ahLst/>
            <a:cxnLst/>
            <a:rect r="r" b="b" t="t" l="l"/>
            <a:pathLst>
              <a:path h="3490844" w="5864619">
                <a:moveTo>
                  <a:pt x="0" y="0"/>
                </a:moveTo>
                <a:lnTo>
                  <a:pt x="5864619" y="0"/>
                </a:lnTo>
                <a:lnTo>
                  <a:pt x="5864619" y="3490844"/>
                </a:lnTo>
                <a:lnTo>
                  <a:pt x="0" y="349084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144000" y="6103472"/>
            <a:ext cx="6997455" cy="3440897"/>
          </a:xfrm>
          <a:custGeom>
            <a:avLst/>
            <a:gdLst/>
            <a:ahLst/>
            <a:cxnLst/>
            <a:rect r="r" b="b" t="t" l="l"/>
            <a:pathLst>
              <a:path h="3440897" w="6997455">
                <a:moveTo>
                  <a:pt x="0" y="0"/>
                </a:moveTo>
                <a:lnTo>
                  <a:pt x="6997455" y="0"/>
                </a:lnTo>
                <a:lnTo>
                  <a:pt x="6997455" y="3440897"/>
                </a:lnTo>
                <a:lnTo>
                  <a:pt x="0" y="344089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84260" y="571182"/>
            <a:ext cx="14548138" cy="134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59"/>
              </a:lnSpc>
            </a:pPr>
            <a:r>
              <a:rPr lang="en-US" sz="8799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Dataset Description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135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7910023" y="-45488"/>
            <a:ext cx="10377977" cy="10377977"/>
          </a:xfrm>
          <a:custGeom>
            <a:avLst/>
            <a:gdLst/>
            <a:ahLst/>
            <a:cxnLst/>
            <a:rect r="r" b="b" t="t" l="l"/>
            <a:pathLst>
              <a:path h="10377977" w="10377977">
                <a:moveTo>
                  <a:pt x="10377977" y="0"/>
                </a:moveTo>
                <a:lnTo>
                  <a:pt x="0" y="0"/>
                </a:lnTo>
                <a:lnTo>
                  <a:pt x="0" y="10377976"/>
                </a:lnTo>
                <a:lnTo>
                  <a:pt x="10377977" y="10377976"/>
                </a:lnTo>
                <a:lnTo>
                  <a:pt x="1037797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12015" y="1171447"/>
            <a:ext cx="9336338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Tools &amp; Skills Used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12015" y="2690915"/>
            <a:ext cx="5657354" cy="5309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36506" indent="-468253" lvl="1">
              <a:lnSpc>
                <a:spcPts val="6072"/>
              </a:lnSpc>
              <a:buFont typeface="Arial"/>
              <a:buChar char="•"/>
            </a:pPr>
            <a:r>
              <a:rPr lang="en-US" sz="4337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SQL</a:t>
            </a:r>
          </a:p>
          <a:p>
            <a:pPr algn="l" marL="936506" indent="-468253" lvl="1">
              <a:lnSpc>
                <a:spcPts val="6072"/>
              </a:lnSpc>
              <a:buFont typeface="Arial"/>
              <a:buChar char="•"/>
            </a:pPr>
            <a:r>
              <a:rPr lang="en-US" sz="4337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Joins</a:t>
            </a:r>
          </a:p>
          <a:p>
            <a:pPr algn="l" marL="936506" indent="-468253" lvl="1">
              <a:lnSpc>
                <a:spcPts val="6072"/>
              </a:lnSpc>
              <a:buFont typeface="Arial"/>
              <a:buChar char="•"/>
            </a:pPr>
            <a:r>
              <a:rPr lang="en-US" sz="4337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Aggregations</a:t>
            </a:r>
          </a:p>
          <a:p>
            <a:pPr algn="l" marL="936506" indent="-468253" lvl="1">
              <a:lnSpc>
                <a:spcPts val="6072"/>
              </a:lnSpc>
              <a:buFont typeface="Arial"/>
              <a:buChar char="•"/>
            </a:pPr>
            <a:r>
              <a:rPr lang="en-US" sz="4337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Window functions</a:t>
            </a:r>
          </a:p>
          <a:p>
            <a:pPr algn="l" marL="936506" indent="-468253" lvl="1">
              <a:lnSpc>
                <a:spcPts val="6072"/>
              </a:lnSpc>
              <a:buFont typeface="Arial"/>
              <a:buChar char="•"/>
            </a:pPr>
            <a:r>
              <a:rPr lang="en-US" sz="4337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Grouping &amp; filtering</a:t>
            </a:r>
          </a:p>
          <a:p>
            <a:pPr algn="l" marL="936506" indent="-468253" lvl="1">
              <a:lnSpc>
                <a:spcPts val="6072"/>
              </a:lnSpc>
              <a:buFont typeface="Arial"/>
              <a:buChar char="•"/>
            </a:pPr>
            <a:r>
              <a:rPr lang="en-US" sz="4337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CTEs</a:t>
            </a:r>
          </a:p>
          <a:p>
            <a:pPr algn="l" marL="936506" indent="-468253" lvl="1">
              <a:lnSpc>
                <a:spcPts val="6072"/>
              </a:lnSpc>
              <a:buFont typeface="Arial"/>
              <a:buChar char="•"/>
            </a:pPr>
            <a:r>
              <a:rPr lang="en-US" sz="4337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Date functions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135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10800000">
            <a:off x="0" y="0"/>
            <a:ext cx="18288000" cy="10972800"/>
          </a:xfrm>
          <a:custGeom>
            <a:avLst/>
            <a:gdLst/>
            <a:ahLst/>
            <a:cxnLst/>
            <a:rect r="r" b="b" t="t" l="l"/>
            <a:pathLst>
              <a:path h="10972800" w="18288000">
                <a:moveTo>
                  <a:pt x="18288000" y="10972800"/>
                </a:moveTo>
                <a:lnTo>
                  <a:pt x="0" y="109728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972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6055" y="1506617"/>
            <a:ext cx="400297" cy="400297"/>
          </a:xfrm>
          <a:custGeom>
            <a:avLst/>
            <a:gdLst/>
            <a:ahLst/>
            <a:cxnLst/>
            <a:rect r="r" b="b" t="t" l="l"/>
            <a:pathLst>
              <a:path h="400297" w="400297">
                <a:moveTo>
                  <a:pt x="0" y="0"/>
                </a:moveTo>
                <a:lnTo>
                  <a:pt x="400296" y="0"/>
                </a:lnTo>
                <a:lnTo>
                  <a:pt x="400296" y="400297"/>
                </a:lnTo>
                <a:lnTo>
                  <a:pt x="0" y="4002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56055" y="2021214"/>
            <a:ext cx="7925378" cy="8078971"/>
          </a:xfrm>
          <a:custGeom>
            <a:avLst/>
            <a:gdLst/>
            <a:ahLst/>
            <a:cxnLst/>
            <a:rect r="r" b="b" t="t" l="l"/>
            <a:pathLst>
              <a:path h="8078971" w="7925378">
                <a:moveTo>
                  <a:pt x="0" y="0"/>
                </a:moveTo>
                <a:lnTo>
                  <a:pt x="7925378" y="0"/>
                </a:lnTo>
                <a:lnTo>
                  <a:pt x="7925378" y="8078971"/>
                </a:lnTo>
                <a:lnTo>
                  <a:pt x="0" y="80789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780802" y="2021214"/>
            <a:ext cx="6963644" cy="8078971"/>
          </a:xfrm>
          <a:custGeom>
            <a:avLst/>
            <a:gdLst/>
            <a:ahLst/>
            <a:cxnLst/>
            <a:rect r="r" b="b" t="t" l="l"/>
            <a:pathLst>
              <a:path h="8078971" w="6963644">
                <a:moveTo>
                  <a:pt x="0" y="0"/>
                </a:moveTo>
                <a:lnTo>
                  <a:pt x="6963644" y="0"/>
                </a:lnTo>
                <a:lnTo>
                  <a:pt x="6963644" y="8078971"/>
                </a:lnTo>
                <a:lnTo>
                  <a:pt x="0" y="80789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0" y="152879"/>
            <a:ext cx="18288000" cy="12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Business Questions &amp; SQL Queries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347471"/>
            <a:ext cx="7494119" cy="559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41"/>
              </a:lnSpc>
            </a:pPr>
            <a:r>
              <a:rPr lang="en-US" sz="3315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BASIC QUERIES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135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-10800000">
            <a:off x="0" y="0"/>
            <a:ext cx="18288000" cy="10972800"/>
          </a:xfrm>
          <a:custGeom>
            <a:avLst/>
            <a:gdLst/>
            <a:ahLst/>
            <a:cxnLst/>
            <a:rect r="r" b="b" t="t" l="l"/>
            <a:pathLst>
              <a:path h="10972800" w="18288000">
                <a:moveTo>
                  <a:pt x="18288000" y="10972800"/>
                </a:moveTo>
                <a:lnTo>
                  <a:pt x="0" y="109728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972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6055" y="1506617"/>
            <a:ext cx="400297" cy="400297"/>
          </a:xfrm>
          <a:custGeom>
            <a:avLst/>
            <a:gdLst/>
            <a:ahLst/>
            <a:cxnLst/>
            <a:rect r="r" b="b" t="t" l="l"/>
            <a:pathLst>
              <a:path h="400297" w="400297">
                <a:moveTo>
                  <a:pt x="0" y="0"/>
                </a:moveTo>
                <a:lnTo>
                  <a:pt x="400296" y="0"/>
                </a:lnTo>
                <a:lnTo>
                  <a:pt x="400296" y="400297"/>
                </a:lnTo>
                <a:lnTo>
                  <a:pt x="0" y="4002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56351" y="2193517"/>
            <a:ext cx="11394546" cy="7734984"/>
          </a:xfrm>
          <a:custGeom>
            <a:avLst/>
            <a:gdLst/>
            <a:ahLst/>
            <a:cxnLst/>
            <a:rect r="r" b="b" t="t" l="l"/>
            <a:pathLst>
              <a:path h="7734984" w="11394546">
                <a:moveTo>
                  <a:pt x="0" y="0"/>
                </a:moveTo>
                <a:lnTo>
                  <a:pt x="11394547" y="0"/>
                </a:lnTo>
                <a:lnTo>
                  <a:pt x="11394547" y="7734984"/>
                </a:lnTo>
                <a:lnTo>
                  <a:pt x="0" y="773498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0" y="152879"/>
            <a:ext cx="18288000" cy="12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Business Questions &amp; SQL Queries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347471"/>
            <a:ext cx="7494119" cy="559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41"/>
              </a:lnSpc>
            </a:pPr>
            <a:r>
              <a:rPr lang="en-US" sz="3315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INTERMEDIATE QUERIES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135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879894"/>
            <a:ext cx="11251273" cy="7734984"/>
          </a:xfrm>
          <a:custGeom>
            <a:avLst/>
            <a:gdLst/>
            <a:ahLst/>
            <a:cxnLst/>
            <a:rect r="r" b="b" t="t" l="l"/>
            <a:pathLst>
              <a:path h="7734984" w="11251273">
                <a:moveTo>
                  <a:pt x="0" y="0"/>
                </a:moveTo>
                <a:lnTo>
                  <a:pt x="11251273" y="0"/>
                </a:lnTo>
                <a:lnTo>
                  <a:pt x="11251273" y="7734984"/>
                </a:lnTo>
                <a:lnTo>
                  <a:pt x="0" y="7734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273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183112"/>
            <a:ext cx="18288000" cy="12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Business Questions &amp; SQL Queries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135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56055" y="2021214"/>
            <a:ext cx="11751474" cy="8093828"/>
          </a:xfrm>
          <a:custGeom>
            <a:avLst/>
            <a:gdLst/>
            <a:ahLst/>
            <a:cxnLst/>
            <a:rect r="r" b="b" t="t" l="l"/>
            <a:pathLst>
              <a:path h="8093828" w="11751474">
                <a:moveTo>
                  <a:pt x="0" y="0"/>
                </a:moveTo>
                <a:lnTo>
                  <a:pt x="11751474" y="0"/>
                </a:lnTo>
                <a:lnTo>
                  <a:pt x="11751474" y="8093828"/>
                </a:lnTo>
                <a:lnTo>
                  <a:pt x="0" y="80938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6055" y="1506617"/>
            <a:ext cx="400297" cy="400297"/>
          </a:xfrm>
          <a:custGeom>
            <a:avLst/>
            <a:gdLst/>
            <a:ahLst/>
            <a:cxnLst/>
            <a:rect r="r" b="b" t="t" l="l"/>
            <a:pathLst>
              <a:path h="400297" w="400297">
                <a:moveTo>
                  <a:pt x="0" y="0"/>
                </a:moveTo>
                <a:lnTo>
                  <a:pt x="400296" y="0"/>
                </a:lnTo>
                <a:lnTo>
                  <a:pt x="400296" y="400297"/>
                </a:lnTo>
                <a:lnTo>
                  <a:pt x="0" y="4002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0" y="152879"/>
            <a:ext cx="18288000" cy="12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Business Questions &amp; SQL Queries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347471"/>
            <a:ext cx="7494119" cy="559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41"/>
              </a:lnSpc>
            </a:pPr>
            <a:r>
              <a:rPr lang="en-US" sz="3315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ADVANCED QUERIES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135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456999" y="1393900"/>
            <a:ext cx="8233737" cy="8601330"/>
          </a:xfrm>
          <a:custGeom>
            <a:avLst/>
            <a:gdLst/>
            <a:ahLst/>
            <a:cxnLst/>
            <a:rect r="r" b="b" t="t" l="l"/>
            <a:pathLst>
              <a:path h="8601330" w="8233737">
                <a:moveTo>
                  <a:pt x="0" y="0"/>
                </a:moveTo>
                <a:lnTo>
                  <a:pt x="8233738" y="0"/>
                </a:lnTo>
                <a:lnTo>
                  <a:pt x="8233738" y="8601330"/>
                </a:lnTo>
                <a:lnTo>
                  <a:pt x="0" y="86013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61" r="0" b="-261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142157"/>
            <a:ext cx="18288000" cy="12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Business Questions &amp; SQL Queries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336750"/>
            <a:ext cx="7494119" cy="559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41"/>
              </a:lnSpc>
            </a:pPr>
            <a:r>
              <a:rPr lang="en-US" sz="3315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ADVANCED QUERIES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3135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81944" y="400050"/>
            <a:ext cx="6351091" cy="12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00"/>
              </a:lnSpc>
              <a:spcBef>
                <a:spcPct val="0"/>
              </a:spcBef>
            </a:pPr>
            <a:r>
              <a:rPr lang="en-US" sz="80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Key Insights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0" y="1982584"/>
            <a:ext cx="18288000" cy="7585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976618" indent="-488309" lvl="1">
              <a:lnSpc>
                <a:spcPts val="5428"/>
              </a:lnSpc>
              <a:buFont typeface="Arial"/>
              <a:buChar char="•"/>
            </a:pPr>
            <a:r>
              <a:rPr lang="en-US" sz="4523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Large pizzas contribute the highest revenue (38%).</a:t>
            </a:r>
          </a:p>
          <a:p>
            <a:pPr algn="just" marL="976618" indent="-488309" lvl="1">
              <a:lnSpc>
                <a:spcPts val="5428"/>
              </a:lnSpc>
              <a:buFont typeface="Arial"/>
              <a:buChar char="•"/>
            </a:pPr>
            <a:r>
              <a:rPr lang="en-US" sz="4523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Friday &amp; Saturday are peak order days.</a:t>
            </a:r>
          </a:p>
          <a:p>
            <a:pPr algn="just" marL="976618" indent="-488309" lvl="1">
              <a:lnSpc>
                <a:spcPts val="5428"/>
              </a:lnSpc>
              <a:buFont typeface="Arial"/>
              <a:buChar char="•"/>
            </a:pPr>
            <a:r>
              <a:rPr lang="en-US" sz="4523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6–8 PM is the busiest ordering window.</a:t>
            </a:r>
          </a:p>
          <a:p>
            <a:pPr algn="just" marL="976618" indent="-488309" lvl="1">
              <a:lnSpc>
                <a:spcPts val="5428"/>
              </a:lnSpc>
              <a:buFont typeface="Arial"/>
              <a:buChar char="•"/>
            </a:pPr>
            <a:r>
              <a:rPr lang="en-US" sz="4523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Margherita and Pepperoni dominate sales volume.</a:t>
            </a:r>
          </a:p>
          <a:p>
            <a:pPr algn="just" marL="976618" indent="-488309" lvl="1">
              <a:lnSpc>
                <a:spcPts val="5428"/>
              </a:lnSpc>
              <a:buFont typeface="Arial"/>
              <a:buChar char="•"/>
            </a:pPr>
            <a:r>
              <a:rPr lang="en-US" sz="4523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Category “Classic” and “Supreme drives maximum revenue.</a:t>
            </a:r>
          </a:p>
          <a:p>
            <a:pPr algn="just" marL="976618" indent="-488309" lvl="1">
              <a:lnSpc>
                <a:spcPts val="5428"/>
              </a:lnSpc>
              <a:buFont typeface="Arial"/>
              <a:buChar char="•"/>
            </a:pPr>
            <a:r>
              <a:rPr lang="en-US" sz="4523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Weekly revenue shows an upward trend with a 3-week moving average.</a:t>
            </a:r>
          </a:p>
          <a:p>
            <a:pPr algn="just" marL="976618" indent="-488309" lvl="1">
              <a:lnSpc>
                <a:spcPts val="5428"/>
              </a:lnSpc>
              <a:buFont typeface="Arial"/>
              <a:buChar char="•"/>
            </a:pPr>
            <a:r>
              <a:rPr lang="en-US" sz="4523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Months 5,7,11 were the most revenue holders.</a:t>
            </a:r>
          </a:p>
          <a:p>
            <a:pPr algn="just" marL="976618" indent="-488309" lvl="1">
              <a:lnSpc>
                <a:spcPts val="5428"/>
              </a:lnSpc>
              <a:buFont typeface="Arial"/>
              <a:buChar char="•"/>
            </a:pPr>
            <a:r>
              <a:rPr lang="en-US" sz="4523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The cumulative revenue earned was 817860.05.</a:t>
            </a:r>
          </a:p>
          <a:p>
            <a:pPr algn="just" marL="976618" indent="-488309" lvl="1">
              <a:lnSpc>
                <a:spcPts val="5428"/>
              </a:lnSpc>
              <a:buFont typeface="Arial"/>
              <a:buChar char="•"/>
            </a:pPr>
            <a:r>
              <a:rPr lang="en-US" sz="4523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The average order value was 38.30</a:t>
            </a:r>
          </a:p>
          <a:p>
            <a:pPr algn="just" marL="976618" indent="-488309" lvl="1">
              <a:lnSpc>
                <a:spcPts val="5428"/>
              </a:lnSpc>
              <a:buFont typeface="Arial"/>
              <a:buChar char="•"/>
            </a:pPr>
            <a:r>
              <a:rPr lang="en-US" sz="4523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The average sales per day were 138.47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3135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7893" y="302601"/>
            <a:ext cx="14333644" cy="12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00"/>
              </a:lnSpc>
              <a:spcBef>
                <a:spcPct val="0"/>
              </a:spcBef>
            </a:pPr>
            <a:r>
              <a:rPr lang="en-US" sz="80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Futur</a:t>
            </a:r>
            <a:r>
              <a:rPr lang="en-US" sz="800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e Enhancements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05213" y="1926643"/>
            <a:ext cx="11184293" cy="5006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318575" indent="-659287" lvl="1">
              <a:lnSpc>
                <a:spcPts val="7939"/>
              </a:lnSpc>
              <a:buFont typeface="Arial"/>
              <a:buChar char="•"/>
            </a:pPr>
            <a:r>
              <a:rPr lang="en-US" sz="6107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Customer segmentation</a:t>
            </a:r>
          </a:p>
          <a:p>
            <a:pPr algn="l" marL="1318575" indent="-659287" lvl="1">
              <a:lnSpc>
                <a:spcPts val="7939"/>
              </a:lnSpc>
              <a:buFont typeface="Arial"/>
              <a:buChar char="•"/>
            </a:pPr>
            <a:r>
              <a:rPr lang="en-US" sz="6107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Predictive demand modeling</a:t>
            </a:r>
          </a:p>
          <a:p>
            <a:pPr algn="l" marL="1318575" indent="-659287" lvl="1">
              <a:lnSpc>
                <a:spcPts val="7939"/>
              </a:lnSpc>
              <a:buFont typeface="Arial"/>
              <a:buChar char="•"/>
            </a:pPr>
            <a:r>
              <a:rPr lang="en-US" sz="6107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Time-series forecasting</a:t>
            </a:r>
          </a:p>
          <a:p>
            <a:pPr algn="l" marL="1318575" indent="-659287" lvl="1">
              <a:lnSpc>
                <a:spcPts val="7939"/>
              </a:lnSpc>
              <a:buFont typeface="Arial"/>
              <a:buChar char="•"/>
            </a:pPr>
            <a:r>
              <a:rPr lang="en-US" sz="6107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Profitability analysis</a:t>
            </a:r>
          </a:p>
          <a:p>
            <a:pPr algn="l" marL="1318575" indent="-659287" lvl="1">
              <a:lnSpc>
                <a:spcPts val="7939"/>
              </a:lnSpc>
              <a:buFont typeface="Arial"/>
              <a:buChar char="•"/>
            </a:pPr>
            <a:r>
              <a:rPr lang="en-US" sz="6107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Live dashboard automation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3135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76513" y="971550"/>
            <a:ext cx="16564714" cy="287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65994" indent="-632997" lvl="1">
              <a:lnSpc>
                <a:spcPts val="7622"/>
              </a:lnSpc>
              <a:buFont typeface="Arial"/>
              <a:buChar char="•"/>
            </a:pPr>
            <a:r>
              <a:rPr lang="en-US" sz="5863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F</a:t>
            </a:r>
            <a:r>
              <a:rPr lang="en-US" sz="5863">
                <a:solidFill>
                  <a:srgbClr val="FFFFFF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or complete SQL scripts, analysis, results, and raw data files, please check out the full repository on GitHub.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DAG5Dkr0gew</dc:identifier>
  <dcterms:modified xsi:type="dcterms:W3CDTF">2011-08-01T06:04:30Z</dcterms:modified>
  <cp:revision>1</cp:revision>
  <dc:title>Dark Blue Light Blue Professional Gradients Annual Company Report Business Presentation</dc:title>
</cp:coreProperties>
</file>